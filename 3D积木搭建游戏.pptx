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media/image48.png" ContentType="image/png"/>
  <Override PartName="/ppt/media/image52.png" ContentType="image/png"/>
  <Override PartName="/ppt/media/image36.png" ContentType="image/png"/>
  <Override PartName="/ppt/media/image38.png" ContentType="image/png"/>
  <Override PartName="/ppt/media/image46.png" ContentType="image/png"/>
  <Override PartName="/ppt/media/image44.png" ContentType="image/png"/>
  <Override PartName="/ppt/media/image30.png" ContentType="image/png"/>
  <Override PartName="/ppt/media/image34.png" ContentType="image/png"/>
  <Override PartName="/ppt/media/image28.png" ContentType="image/png"/>
  <Override PartName="/ppt/media/image7.png" ContentType="image/png"/>
  <Override PartName="/ppt/media/image11.png" ContentType="image/png"/>
  <Override PartName="/ppt/media/image1.png" ContentType="image/png"/>
  <Override PartName="/ppt/media/image18.png" ContentType="image/png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ppt/slideLayouts/slideLayout12.xml" ContentType="application/vnd.openxmlformats-officedocument.presentationml.slideLayout+xml"/>
  <Override PartName="/ppt/media/image14.png" ContentType="image/png"/>
  <Override PartName="/ppt/media/image5.png" ContentType="image/png"/>
  <Override PartName="/ppt/slides/slide6.xml" ContentType="application/vnd.openxmlformats-officedocument.presentationml.slide+xml"/>
  <Override PartName="/ppt/media/image13.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media/image42.png" ContentType="image/png"/>
  <Override PartName="/ppt/media/image24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media/image16.png" ContentType="image/png"/>
  <Override PartName="/ppt/slideLayouts/slideLayout8.xml" ContentType="application/vnd.openxmlformats-officedocument.presentationml.slideLayout+xml"/>
  <Override PartName="/ppt/media/image26.png" ContentType="image/png"/>
  <Override PartName="/ppt/slideLayouts/slideLayout11.xml" ContentType="application/vnd.openxmlformats-officedocument.presentationml.slideLayout+xml"/>
  <Override PartName="/ppt/slides/slide8.xml" ContentType="application/vnd.openxmlformats-officedocument.presentationml.slide+xml"/>
  <Override PartName="/ppt/slideMasters/slideMaster2.xml" ContentType="application/vnd.openxmlformats-officedocument.presentationml.slideMaster+xml"/>
  <Override PartName="/ppt/media/image32.png" ContentType="image/png"/>
  <Override PartName="/ppt/slideLayouts/slideLayout4.xml" ContentType="application/vnd.openxmlformats-officedocument.presentationml.slideLayout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2.png" ContentType="image/png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media/image54.pn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ppt/media/image40.png" ContentType="image/png"/>
  <Override PartName="/ppt/slideLayouts/slideLayout6.xml" ContentType="application/vnd.openxmlformats-officedocument.presentationml.slideLayout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media/image3.png" ContentType="image/png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media/image9.png" ContentType="image/png"/>
  <Override PartName="/ppt/media/image50.png" ContentType="image/png"/>
  <Override PartName="/ppt/slideLayouts/slideLayout9.xml" ContentType="application/vnd.openxmlformats-officedocument.presentationml.slideLayout+xml"/>
  <Override PartName="/ppt/notesSlides/notesSlide6.xml" ContentType="application/vnd.openxmlformats-officedocument.presentationml.notesSlide+xml"/>
  <Override PartName="/ppt/media/image20.png" ContentType="image/png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com="http://schemas.openxmlformats.org/drawingml/2006/compatibility" xmlns:c="http://schemas.openxmlformats.org/drawingml/2006/chart" xmlns:dgm="http://schemas.openxmlformats.org/drawingml/2006/diagram" xmlns:o="urn:schemas-microsoft-com:office:office" xmlns:mc="http://schemas.openxmlformats.org/markup-compatibility/2006" xmlns:p15="http://schemas.microsoft.com/office/powerpoint/2012/main" xmlns:mv="urn:schemas-microsoft-com:mac:vml" xmlns:pvml="urn:schemas-microsoft-com:office:powerpoint" xmlns:p="http://schemas.openxmlformats.org/presentationml/2006/main" xmlns:v="urn:schemas-microsoft-com:vml" xmlns:ahyp="http://schemas.microsoft.com/office/drawing/2018/hyperlinkcolor" xmlns:p14="http://schemas.microsoft.com/office/powerpoint/2010/main" autoCompressPictures="0" strictFirstAndLastChars="0" saveSubsetFonts="1">
  <p:sldMasterIdLst>
    <p:sldMasterId id="2147483648" r:id="rId8"/>
    <p:sldMasterId id="2147483650" r:id="rId4"/>
  </p:sldMasterIdLst>
  <p:notesMasterIdLst>
    <p:notesMasterId r:id="rId6"/>
  </p:notesMasterIdLst>
  <p:sldIdLst>
    <p:sldId id="256" r:id="rId5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22" Type="http://schemas.openxmlformats.org/officeDocument/2006/relationships/notesSlide" Target="notesSlides/notesSlide6.xml" /><Relationship Id="rId17" Type="http://schemas.openxmlformats.org/officeDocument/2006/relationships/notesSlide" Target="notesSlides/notesSlide1.xml" /><Relationship Id="rId14" Type="http://schemas.openxmlformats.org/officeDocument/2006/relationships/slide" Target="slides/slide7.xml" /><Relationship Id="rId18" Type="http://schemas.openxmlformats.org/officeDocument/2006/relationships/notesSlide" Target="notesSlides/notesSlide2.xml" /><Relationship Id="rId11" Type="http://schemas.openxmlformats.org/officeDocument/2006/relationships/slide" Target="slides/slide4.xml" /><Relationship Id="rId10" Type="http://schemas.openxmlformats.org/officeDocument/2006/relationships/slide" Target="slides/slide3.xml" /><Relationship Id="rId7" Type="http://schemas.openxmlformats.org/officeDocument/2006/relationships/theme" Target="theme/theme2.xml" /><Relationship Id="rId19" Type="http://schemas.openxmlformats.org/officeDocument/2006/relationships/notesSlide" Target="notesSlides/notesSlide3.xml" /><Relationship Id="rId6" Type="http://schemas.openxmlformats.org/officeDocument/2006/relationships/notesMaster" Target="notesMasters/notesMaster1.xml" /><Relationship Id="rId20" Type="http://schemas.openxmlformats.org/officeDocument/2006/relationships/notesSlide" Target="notesSlides/notesSlide4.xml" /><Relationship Id="rId2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5" Type="http://schemas.openxmlformats.org/officeDocument/2006/relationships/slide" Target="slides/slide1.xml" /><Relationship Id="rId12" Type="http://schemas.openxmlformats.org/officeDocument/2006/relationships/slide" Target="slides/slide5.xml" /><Relationship Id="rId3" Type="http://schemas.openxmlformats.org/officeDocument/2006/relationships/presProps" Target="presProps.xml" /><Relationship Id="rId24" Type="http://schemas.openxmlformats.org/officeDocument/2006/relationships/notesSlide" Target="notesSlides/notesSlide8.xml" /><Relationship Id="rId23" Type="http://schemas.openxmlformats.org/officeDocument/2006/relationships/notesSlide" Target="notesSlides/notesSlide7.xml" /><Relationship Id="rId13" Type="http://schemas.openxmlformats.org/officeDocument/2006/relationships/slide" Target="slides/slide6.xml" /><Relationship Id="rId9" Type="http://schemas.openxmlformats.org/officeDocument/2006/relationships/slide" Target="slides/slide2.xml" /><Relationship Id="rId8" Type="http://schemas.openxmlformats.org/officeDocument/2006/relationships/slideMaster" Target="slideMasters/slideMaster2.xml" /><Relationship Id="rId21" Type="http://schemas.openxmlformats.org/officeDocument/2006/relationships/notesSlide" Target="notesSlides/notesSlide5.xml" /><Relationship Id="rId15" Type="http://schemas.openxmlformats.org/officeDocument/2006/relationships/slide" Target="slides/slide8.xml" /><Relationship Id="rId1" Type="http://schemas.openxmlformats.org/officeDocument/2006/relationships/theme" Target="theme/theme1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5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9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1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11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1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13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14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15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尊敬的各位老师，大家好。今天我们汇报的项目是“3D三视图积木搭建游戏”。这是一个基于Python开发的3D益智游戏，旨在通过三维可视化的方式，帮助玩家锻炼空间想象能力。接下来，我们将从项目介绍、架构设计、关键实现等几个方面进行详细阐述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首先，让我们来了解一下项目的整体情况。这个游戏的核心目标是帮助玩家，特别是学生，通过实际操作来理解三维空间关系。我们实现了完整的游戏流程：玩家可以在3D场景中自由放置和删除积木，系统会实时根据侧面的三视图提示进行引导。当玩家搭建的模型与目标完全一致时，游戏会判定通关。整个项目不仅功能完整，还打包成了独立的exe文件，方便直接运行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接下来是软件的架构设计。我们的项目主要由三个核心Python文件构成。首先是main.py，它作为程序的入口，负责初始化窗口和资源。其次是block_3d.py，这是游戏的核心，所有的3D渲染、积木交互和通关逻辑都在这里实现。最后是gen_level_img.py，一个辅助脚本，用于自动生成关卡所需的三视图图片。这种模块化的设计使得代码结构清晰，便于维护和扩展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在关键功能实现方面，我们主要攻克了两个难点。第一是3D场景的搭建，我们选择了PyVista库，它能高效地渲染三维模型，并支持丰富的交互操作。第二是积木的交互控制，我们设计了简洁的键盘操作方式，玩家可以轻松地移动光标、放置和删除积木。整个交互逻辑流畅，响应迅速，为玩家提供了良好的游戏体验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项目的核心算法是通关判定。我们采用了集合对比的方法，将玩家当前搭建的所有积木坐标存入一个集合，然后与目标关卡的坐标集合进行比较。如果两个集合完全相等，就判定为通关。这个算法非常高效，能够实现实时判定。右侧是我们项目的整体流程图，清晰地展示了从程序启动、加载资源、游戏循环到最终通关的完整逻辑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在项目开发过程中，我们两人分工明确，紧密合作。我主要负责后端的核心逻辑开发，包括3D场景的搭建、积木的交互控制以及通关算法的实现。我的组员则专注于前端和资源方面，负责制作关卡的三视图图片，优化界面设计，并协助进行项目测试。通过这样的分工，我们高效地完成了项目开发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经过一段时间的努力，我们成功完成了项目的所有预定目标。左侧是游戏的运行截图，可以看到完整的游戏界面和玩法。我们不仅实现了所有核心功能，还成功将项目打包成了独立的exe文件。回顾整个过程，我们不仅掌握了Python和3D库的使用，更重要的是学会了团队协作和项目管理。未来，我们希望能继续优化游戏，增加更多有趣的功能。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</a:p>
        </p:txBody>
      </p:sp>
      <p:sp>
        <p:nvSpPr>
          <p:cNvPr id="5" name="Notes Placeholder 4"/>
          <p:cNvSpPr/>
          <p:nvPr>
            <p:ph type="body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b="0" i="0" strike="noStrike" sz="1400" u="none">
                <a:solidFill>
                  <a:srgbClr val="000000"/>
                </a:solidFill>
              </a:rPr>
              <a:t>我的汇报到此结束，感谢各位老师的聆听！</a:t>
            </a:r>
          </a:p>
        </p:txBody>
      </p:sp>
      <p:sp>
        <p:nvSpPr>
          <p:cNvPr id="6" name="Footer Placeholder 5"/>
          <p:cNvSpPr/>
          <p:nvPr>
            <p:ph type="ft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</a:p>
        </p:txBody>
      </p:sp>
      <p:sp>
        <p:nvSpPr>
          <p:cNvPr id="7" name="Slide Number Placeholder 6"/>
          <p:cNvSpPr/>
          <p:nvPr>
            <p:ph type="sldNum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r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2" Type="http://schemas.openxmlformats.org/officeDocument/2006/relationships/theme" Target="../theme/theme1.xml" /><Relationship Id="rId11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8.xml" /><Relationship Id="rId5" Type="http://schemas.openxmlformats.org/officeDocument/2006/relationships/slideLayout" Target="../slideLayouts/slideLayout5.xml" /><Relationship Id="rId7" Type="http://schemas.openxmlformats.org/officeDocument/2006/relationships/slideLayout" Target="../slideLayouts/slideLayout7.xml" /><Relationship Id="rId6" Type="http://schemas.openxmlformats.org/officeDocument/2006/relationships/slideLayout" Target="../slideLayouts/slideLayout6.xml" /><Relationship Id="rId4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3" Type="http://schemas.openxmlformats.org/officeDocument/2006/relationships/slideLayout" Target="../slideLayouts/slideLayout3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2.xml" /><Relationship Id="rId1" Type="http://schemas.openxmlformats.org/officeDocument/2006/relationships/theme" Target="../theme/theme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6" Type="http://schemas.openxmlformats.org/officeDocument/2006/relationships/notesSlide" Target="../notesSlides/notesSlide1.xml" /><Relationship Id="rId4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<Relationships xmlns="http://schemas.openxmlformats.org/package/2006/relationships"><Relationship Id="rId8" Type="http://schemas.openxmlformats.org/officeDocument/2006/relationships/image" Target="../media/image11.png" /><Relationship Id="rId7" Type="http://schemas.openxmlformats.org/officeDocument/2006/relationships/notesSlide" Target="../notesSlides/notesSlide2.xml" /><Relationship Id="rId4" Type="http://schemas.openxmlformats.org/officeDocument/2006/relationships/image" Target="../media/image7.png" /><Relationship Id="rId3" Type="http://schemas.openxmlformats.org/officeDocument/2006/relationships/slideLayout" Target="../slideLayouts/slideLayout12.xml" /><Relationship Id="rId6" Type="http://schemas.openxmlformats.org/officeDocument/2006/relationships/image" Target="../media/image9.png" /><Relationship Id="rId10" Type="http://schemas.openxmlformats.org/officeDocument/2006/relationships/image" Target="../media/image13.png" /><Relationship Id="rId2" Type="http://schemas.openxmlformats.org/officeDocument/2006/relationships/image" Target="../media/image5.png" /></Relationships>
</file>

<file path=ppt/slides/_rels/slide3.xml.rels><?xml version="1.0" encoding="UTF-8" standalone="yes"?><Relationships xmlns="http://schemas.openxmlformats.org/package/2006/relationships"><Relationship Id="rId6" Type="http://schemas.openxmlformats.org/officeDocument/2006/relationships/image" Target="../media/image18.png" /><Relationship Id="rId2" Type="http://schemas.openxmlformats.org/officeDocument/2006/relationships/image" Target="../media/image14.png" /><Relationship Id="rId7" Type="http://schemas.openxmlformats.org/officeDocument/2006/relationships/notesSlide" Target="../notesSlides/notesSlide3.xml" /><Relationship Id="rId4" Type="http://schemas.openxmlformats.org/officeDocument/2006/relationships/image" Target="../media/image16.png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<Relationships xmlns="http://schemas.openxmlformats.org/package/2006/relationships"><Relationship Id="rId8" Type="http://schemas.openxmlformats.org/officeDocument/2006/relationships/image" Target="../media/image24.png" /><Relationship Id="rId7" Type="http://schemas.openxmlformats.org/officeDocument/2006/relationships/notesSlide" Target="../notesSlides/notesSlide4.xml" /><Relationship Id="rId6" Type="http://schemas.openxmlformats.org/officeDocument/2006/relationships/image" Target="../media/image5.png" /><Relationship Id="rId12" Type="http://schemas.openxmlformats.org/officeDocument/2006/relationships/image" Target="../media/image28.png" /><Relationship Id="rId10" Type="http://schemas.openxmlformats.org/officeDocument/2006/relationships/image" Target="../media/image26.png" /><Relationship Id="rId2" Type="http://schemas.openxmlformats.org/officeDocument/2006/relationships/image" Target="../media/image20.png" /><Relationship Id="rId3" Type="http://schemas.openxmlformats.org/officeDocument/2006/relationships/slideLayout" Target="../slideLayouts/slideLayout12.xml" /><Relationship Id="rId4" Type="http://schemas.openxmlformats.org/officeDocument/2006/relationships/image" Target="../media/image22.png" /></Relationships>
</file>

<file path=ppt/slides/_rels/slide5.xml.rels><?xml version="1.0" encoding="UTF-8" standalone="yes"?><Relationships xmlns="http://schemas.openxmlformats.org/package/2006/relationships"><Relationship Id="rId8" Type="http://schemas.openxmlformats.org/officeDocument/2006/relationships/image" Target="../media/image7.png" /><Relationship Id="rId7" Type="http://schemas.openxmlformats.org/officeDocument/2006/relationships/notesSlide" Target="../notesSlides/notesSlide5.xml" /><Relationship Id="rId4" Type="http://schemas.openxmlformats.org/officeDocument/2006/relationships/image" Target="../media/image32.png" /><Relationship Id="rId6" Type="http://schemas.openxmlformats.org/officeDocument/2006/relationships/image" Target="../media/image34.png" /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<Relationships xmlns="http://schemas.openxmlformats.org/package/2006/relationships"><Relationship Id="rId16" Type="http://schemas.openxmlformats.org/officeDocument/2006/relationships/image" Target="../media/image9.png" /><Relationship Id="rId12" Type="http://schemas.openxmlformats.org/officeDocument/2006/relationships/image" Target="../media/image44.png" /><Relationship Id="rId10" Type="http://schemas.openxmlformats.org/officeDocument/2006/relationships/image" Target="../media/image42.png" /><Relationship Id="rId14" Type="http://schemas.openxmlformats.org/officeDocument/2006/relationships/image" Target="../media/image46.png" /><Relationship Id="rId7" Type="http://schemas.openxmlformats.org/officeDocument/2006/relationships/notesSlide" Target="../notesSlides/notesSlide6.xml" /><Relationship Id="rId6" Type="http://schemas.openxmlformats.org/officeDocument/2006/relationships/image" Target="../media/image38.png" /><Relationship Id="rId4" Type="http://schemas.openxmlformats.org/officeDocument/2006/relationships/image" Target="../media/image5.png" /><Relationship Id="rId8" Type="http://schemas.openxmlformats.org/officeDocument/2006/relationships/image" Target="../media/image40.png" /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36.png" /></Relationships>
</file>

<file path=ppt/slides/_rels/slide7.xml.rels><?xml version="1.0" encoding="UTF-8" standalone="yes"?><Relationships xmlns="http://schemas.openxmlformats.org/package/2006/relationships"><Relationship Id="rId14" Type="http://schemas.openxmlformats.org/officeDocument/2006/relationships/image" Target="../media/image52.png" /><Relationship Id="rId12" Type="http://schemas.openxmlformats.org/officeDocument/2006/relationships/image" Target="../media/image50.png" /><Relationship Id="rId10" Type="http://schemas.openxmlformats.org/officeDocument/2006/relationships/image" Target="../media/image11.png" /><Relationship Id="rId8" Type="http://schemas.openxmlformats.org/officeDocument/2006/relationships/image" Target="../media/image9.png" /><Relationship Id="rId7" Type="http://schemas.openxmlformats.org/officeDocument/2006/relationships/notesSlide" Target="../notesSlides/notesSlide7.xml" /><Relationship Id="rId6" Type="http://schemas.openxmlformats.org/officeDocument/2006/relationships/image" Target="../media/image7.png" /><Relationship Id="rId4" Type="http://schemas.openxmlformats.org/officeDocument/2006/relationships/image" Target="../media/image48.png" /><Relationship Id="rId2" Type="http://schemas.openxmlformats.org/officeDocument/2006/relationships/image" Target="../media/image5.png" /><Relationship Id="rId16" Type="http://schemas.openxmlformats.org/officeDocument/2006/relationships/image" Target="../media/image1.png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<Relationships xmlns="http://schemas.openxmlformats.org/package/2006/relationships"><Relationship Id="rId5" Type="http://schemas.openxmlformats.org/officeDocument/2006/relationships/image" Target="../media/image54.png" /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12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6000" y="-762000"/>
            <a:ext cx="2794000" cy="2794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762000" y="5207000"/>
            <a:ext cx="2032000" cy="2032000"/>
          </a:xfrm>
          <a:prstGeom prst="hexagon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strike="noStrike" sz="48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3D三视图积木搭建游戏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17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2400" u="none">
                <a:solidFill>
                  <a:srgbClr val="FFFFFF">
                    <a:alpha val="80000"/>
                  </a:srgbClr>
                </a:solidFill>
                <a:cs typeface="Noto Sans SC"/>
                <a:sym typeface="Noto Sans SC"/>
                <a:ea typeface="Noto Sans SC"/>
                <a:latin typeface="Noto Sans SC"/>
              </a:rPr>
              <a:t>项目结课汇报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2667000" y="5080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73400" y="5080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800" u="none">
                <a:solidFill>
                  <a:srgbClr val="FFFFFF">
                    <a:alpha val="90196"/>
                  </a:srgbClr>
                </a:solidFill>
                <a:cs typeface="Noto Sans SC"/>
                <a:sym typeface="Noto Sans SC"/>
                <a:ea typeface="Noto Sans SC"/>
                <a:latin typeface="Noto Sans SC"/>
              </a:rPr>
              <a:t>完成人</a:t>
            </a:r>
            <a:r>
              <a:rPr lang="en-US" b="0" i="0" strike="noStrike" sz="1800" u="none">
                <a:solidFill>
                  <a:srgbClr val="FFFFFF">
                    <a:alpha val="90196"/>
                  </a:srgbClr>
                </a:solidFill>
                <a:cs typeface="Noto Sans SC"/>
                <a:sym typeface="Noto Sans SC"/>
                <a:ea typeface="Noto Sans SC"/>
                <a:latin typeface="Noto Sans SC"/>
              </a:rPr>
              <a:t>：赵一诺   徐思佳</a:t>
            </a:r>
            <a:endParaRPr lang="en-US" sz="1100"/>
          </a:p>
        </p:txBody>
      </p:sp>
      <p:pic>
        <p:nvPicPr>
          <p:cNvPr id="9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77000" y="5080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83400" y="5080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800" u="none">
                <a:solidFill>
                  <a:srgbClr val="FFFFFF">
                    <a:alpha val="90196"/>
                  </a:srgbClr>
                </a:solidFill>
                <a:cs typeface="Noto Sans SC"/>
                <a:sym typeface="Noto Sans SC"/>
                <a:ea typeface="Noto Sans SC"/>
                <a:latin typeface="Noto Sans SC"/>
              </a:rPr>
              <a:t>日期：2026年9月17日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12700" cap="flat" cmpd="sng">
            <a:solidFill>
              <a:srgbClr val="2E75C9">
                <a:alpha val="8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4A90E2">
              <a:alpha val="5000"/>
            </a:srgbClr>
          </a:solidFill>
          <a:ln w="12700" cap="flat" cmpd="sng">
            <a:solidFill>
              <a:srgbClr val="2E75C9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3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项目介绍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16665"/>
              </a:lnSpc>
              <a:defRPr/>
            </a:pPr>
            <a:r>
              <a:rPr lang="en-US" b="0" i="0" strike="noStrike" sz="15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基于Python开发的趣味3D积木搭建游戏，依托PyVista库实现沉浸式三维场景渲染。玩家需参照二视图提示完成积木组合，在交互式体验中锻炼空间想象力与几何建构能力，是集教育与娱乐于一体的创意实践项目。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E6CFCF">
                <a:alpha val="6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238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3D场景交互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19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0" i="0" strike="noStrike" sz="1300" u="none">
                <a:solidFill>
                  <a:srgbClr val="B4B4B4"/>
                </a:solidFill>
                <a:cs typeface="Noto Sans SC"/>
                <a:sym typeface="Noto Sans SC"/>
                <a:ea typeface="Noto Sans SC"/>
                <a:latin typeface="Noto Sans SC"/>
              </a:rPr>
              <a:t>支持积木自由放置、删除与一键清空，操作实时响应，提供流畅的沉浸式搭建体验。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365500" y="3048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E6CFCF">
                <a:alpha val="6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3556000" y="323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3238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进阶关卡挑战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3619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0" i="0" strike="noStrike" sz="1300" u="none">
                <a:solidFill>
                  <a:srgbClr val="B4B4B4"/>
                </a:solidFill>
                <a:cs typeface="Noto Sans SC"/>
                <a:sym typeface="Noto Sans SC"/>
                <a:ea typeface="Noto Sans SC"/>
                <a:latin typeface="Noto Sans SC"/>
              </a:rPr>
              <a:t>内置8个难度递增关卡，从基础几何体到复杂组合造型，层层递进挑战思维极限。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E6CFCF">
                <a:alpha val="6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4889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智能通关判定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270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0" i="0" strike="noStrike" sz="1300" u="none">
                <a:solidFill>
                  <a:srgbClr val="B4B4B4"/>
                </a:solidFill>
                <a:cs typeface="Noto Sans SC"/>
                <a:sym typeface="Noto Sans SC"/>
                <a:ea typeface="Noto Sans SC"/>
                <a:latin typeface="Noto Sans SC"/>
              </a:rPr>
              <a:t>算法实时比对搭建模型与目标三视图，精准识别结构一致性，自动判定通关状态。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365500" y="4699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E6CFCF">
                <a:alpha val="6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3556000" y="488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937000" y="4889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独立程序运行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556000" y="5270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0" i="0" strike="noStrike" sz="1300" u="none">
                <a:solidFill>
                  <a:srgbClr val="B4B4B4"/>
                </a:solidFill>
                <a:cs typeface="Noto Sans SC"/>
                <a:sym typeface="Noto Sans SC"/>
                <a:ea typeface="Noto Sans SC"/>
                <a:latin typeface="Noto Sans SC"/>
              </a:rPr>
              <a:t>打包为独立exe可执行文件，无需配置Python环境，双击即可启动，便捷分发使用。</a:t>
            </a:r>
            <a:endParaRPr lang="en-US" sz="1100"/>
          </a:p>
        </p:txBody>
      </p:sp>
      <p:pic>
        <p:nvPicPr>
          <p:cNvPr id="22" name="Picture 22"/>
          <p:cNvPicPr/>
          <p:nvPr/>
        </p:nvPicPr>
        <p:blipFill>
          <a:blip r:embed="rId10"/>
          <a:srcRect l="0" t="1902" r="0" b="1902"/>
          <a:stretch>
            <a:fillRect/>
          </a:stretch>
        </p:blipFill>
        <p:spPr>
          <a:xfrm>
            <a:off x="6477000" y="2159000"/>
            <a:ext cx="4826000" cy="3619500"/>
          </a:xfrm>
          <a:prstGeom prst="rect">
            <a:avLst/>
          </a:prstGeom>
          <a:noFill/>
          <a:ln w="25400" cap="flat" cmpd="sng">
            <a:solidFill>
              <a:srgbClr val="4A90E2">
                <a:alpha val="30000"/>
              </a:srgbClr>
            </a:solidFill>
            <a:prstDash val="solid"/>
          </a:ln>
        </p:spPr>
      </p:pic>
      <p:sp>
        <p:nvSpPr>
          <p:cNvPr id="23" name="AutoShape 23"/>
          <p:cNvSpPr/>
          <p:nvPr/>
        </p:nvSpPr>
        <p:spPr>
          <a:xfrm>
            <a:off x="6477000" y="5842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D1D5DB">
                    <a:alpha val="70196"/>
                  </a:srgbClr>
                </a:solidFill>
                <a:cs typeface="Noto Sans SC"/>
                <a:sym typeface="Noto Sans SC"/>
                <a:ea typeface="Noto Sans SC"/>
                <a:latin typeface="Noto Sans SC"/>
              </a:rPr>
              <a:t>▲ 游戏运行界面实拍：高还原度3D积木场景，清晰呈现空间搭建效果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98000" y="-1524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556000" cy="3556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30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软件架构设计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508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190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8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main.py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角色：程序入口模块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626">
            <a:off x="1016014" y="2851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30000"/>
              </a:srgbClr>
            </a:solidFill>
            <a:prstDash val="solid"/>
            <a:headEnd type="none" len="med" w="med"/>
            <a:tailEnd type="none" len="med" w="med"/>
          </a:ln>
        </p:spPr>
      </p:cxnSp>
      <p:sp>
        <p:nvSpPr>
          <p:cNvPr id="10" name="AutoShape 10"/>
          <p:cNvSpPr/>
          <p:nvPr/>
        </p:nvSpPr>
        <p:spPr>
          <a:xfrm>
            <a:off x="1016000" y="3175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作为程序的总控中枢，负责初始化Pygame窗口环境与图片资源加载，启动游戏主循环，并持续处理界面渲染与用户交互事件，衔接各功能模块。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508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81600" y="190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8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block_3d.py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角色：3D场景核心逻辑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626">
            <a:off x="4699014" y="2851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30000"/>
              </a:srgbClr>
            </a:solidFill>
            <a:prstDash val="solid"/>
            <a:headEnd type="none" len="med" w="med"/>
            <a:tailEnd type="none" len="med" w="med"/>
          </a:ln>
        </p:spPr>
      </p:cxnSp>
      <p:sp>
        <p:nvSpPr>
          <p:cNvPr id="16" name="AutoShape 16"/>
          <p:cNvSpPr/>
          <p:nvPr/>
        </p:nvSpPr>
        <p:spPr>
          <a:xfrm>
            <a:off x="4699000" y="3175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基于PyVista实现3D场景渲染，核心处理积木的动态增添与空间坐标计算，封装了关卡通关条件的判定逻辑，并实时监听键盘输入以响应视角变换与积木操作。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508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64600" y="190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8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gen_level_img.py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角色：辅助工具脚本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626">
            <a:off x="8382014" y="2851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30000"/>
              </a:srgbClr>
            </a:solidFill>
            <a:prstDash val="solid"/>
            <a:headEnd type="none" len="med" w="med"/>
            <a:tailEnd type="none" len="med" w="med"/>
          </a:ln>
        </p:spPr>
      </p:cxnSp>
      <p:sp>
        <p:nvSpPr>
          <p:cNvPr id="22" name="AutoShape 22"/>
          <p:cNvSpPr/>
          <p:nvPr/>
        </p:nvSpPr>
        <p:spPr>
          <a:xfrm>
            <a:off x="8382000" y="3175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自动化生成各关卡的三视图目标参考图，按预设规则将生成的图片资源自动归档至指定目录，供主程序实时加载与比对，提升关卡配置的效率与标准化程度。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12700" cap="flat" cmpd="sng">
            <a:solidFill>
              <a:srgbClr val="2E75C9">
                <a:alpha val="8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12700" cap="flat" cmpd="sng">
            <a:solidFill>
              <a:srgbClr val="2E75C9">
                <a:alpha val="8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3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关键功能实现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20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01 3D场景搭建与渲染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384">
            <a:off x="762008" y="2279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headEnd type="none" len="med" w="med"/>
            <a:tailEnd type="none" len="med" w="med"/>
          </a:ln>
        </p:spPr>
      </p:cxnSp>
      <p:sp>
        <p:nvSpPr>
          <p:cNvPr id="7" name="AutoShape 7"/>
          <p:cNvSpPr/>
          <p:nvPr/>
        </p:nvSpPr>
        <p:spPr>
          <a:xfrm>
            <a:off x="762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CFCF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6924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技术选型：PyVista 核心驱动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采用高性能科学可视化库，高效渲染三维几何模型，支持大规模网格数据的实时加载与渲染，为场景提供坚实的底层支撑。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746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CFCF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3937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8989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场景构建：动态生成与交互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程序化生成游戏底板与投影墙面，支持积木模型的动态实例化与场景挂载；集成自由视角控制，支持旋转、缩放与平移，还原真实空间体验。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CFCF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514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51054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体验优化：流畅无卡顿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基于场景图优化渲染流程，确保积木堆叠与视角变换的高帧率响应，实现低延迟、高流畅度的沉浸式3D交互体验。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20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02 积木交互与逻辑控制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384">
            <a:off x="6223008" y="2279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headEnd type="none" len="med" w="med"/>
            <a:tailEnd type="none" len="med" w="med"/>
          </a:ln>
        </p:spPr>
      </p:cxnSp>
      <p:sp>
        <p:nvSpPr>
          <p:cNvPr id="18" name="AutoShape 18"/>
          <p:cNvSpPr/>
          <p:nvPr/>
        </p:nvSpPr>
        <p:spPr>
          <a:xfrm>
            <a:off x="6223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CFCF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13500" y="273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26924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交互输入：极简键盘操控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设计符合直觉的操作体系：WASD键控制光标移动，空格键快速放置积木，退格键实现即时撤销，上手门槛低，操作响应毫秒级。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3746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CFCF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13500" y="3937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38989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逻辑内核：坐标与碰撞检测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实时维护积木坐标集合，基于空间几何算法实现精准碰撞检测，确保积木堆叠的物理合理性；支持一键清空场景，快速重置游戏状态。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495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CFCF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13500" y="5143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58000" y="51054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体验反馈：即时响应机制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交互指令无延迟反馈，积木放置与删除操作即时生效，配合视觉动效增强操作确认感，打造流畅、顺滑的游戏交互闭环。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3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核心算法与流程图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20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01 / 通关判定核心逻辑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22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基于</a:t>
            </a:r>
            <a:r>
              <a:rPr lang="en-US" b="1" i="0" strike="noStrike" sz="14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集合等价性判定</a:t>
            </a:r>
            <a:r>
              <a:rPr lang="en-US" b="0" i="0" strike="noStrike" sz="14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，将玩家搭建的积木坐标集合与关卡预设目标进行实时比对，利用哈希校验实现O(n)级高效匹配，确保判定精准且无延迟。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349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4544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5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01 数据采集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b="0" i="0" strike="noStrike" sz="1200" u="none">
                <a:solidFill>
                  <a:srgbClr val="9CA3AF"/>
                </a:solidFill>
                <a:cs typeface="Noto Sans SC"/>
                <a:sym typeface="Noto Sans SC"/>
                <a:ea typeface="Noto Sans SC"/>
                <a:latin typeface="Noto Sans SC"/>
              </a:rPr>
              <a:t>实时扫描场景内所有积木的三维坐标，构建当前状态集合A。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92500" y="33020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3683000" y="349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34544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5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02 目标读取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b="0" i="0" strike="noStrike" sz="1200" u="none">
                <a:solidFill>
                  <a:srgbClr val="9CA3AF"/>
                </a:solidFill>
                <a:cs typeface="Noto Sans SC"/>
                <a:sym typeface="Noto Sans SC"/>
                <a:ea typeface="Noto Sans SC"/>
                <a:latin typeface="Noto Sans SC"/>
              </a:rPr>
              <a:t>加载关卡配置，解析并提取目标积木坐标集合B。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508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952500" y="4699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46609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5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03 集合比对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b="0" i="0" strike="noStrike" sz="1200" u="none">
                <a:solidFill>
                  <a:srgbClr val="9CA3AF"/>
                </a:solidFill>
                <a:cs typeface="Noto Sans SC"/>
                <a:sym typeface="Noto Sans SC"/>
                <a:ea typeface="Noto Sans SC"/>
                <a:latin typeface="Noto Sans SC"/>
              </a:rPr>
              <a:t>利用哈希算法快速校验集合元素是否完全一致。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492500" y="4508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3683000" y="4699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64000" y="46609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5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04 结果反馈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/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b="0" i="0" strike="noStrike" sz="1200" u="none">
                <a:solidFill>
                  <a:srgbClr val="9CA3AF"/>
                </a:solidFill>
                <a:cs typeface="Noto Sans SC"/>
                <a:sym typeface="Noto Sans SC"/>
                <a:ea typeface="Noto Sans SC"/>
                <a:latin typeface="Noto Sans SC"/>
              </a:rPr>
              <a:t>判定成功则触发通关动画与奖励机制。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778500"/>
            <a:ext cx="5207000" cy="508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5867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3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算法优势：</a:t>
            </a:r>
            <a:r>
              <a:rPr lang="en-US" b="0" i="0" strike="noStrike" sz="1600" u="none">
                <a:solidFill>
                  <a:srgbClr val="1F2329"/>
                </a:solidFill>
                <a:cs typeface="Noto Sans SC"/>
                <a:sym typeface="Noto Sans SC"/>
                <a:ea typeface="Noto Sans SC"/>
                <a:latin typeface="Noto Sans SC"/>
              </a:rPr>
              <a:t> </a:t>
            </a:r>
            <a:r>
              <a:rPr lang="en-US" b="0" i="0" strike="noStrike" sz="13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时间复杂度O(n)，毫秒级响应，支持动态积木的实时判定，无延迟卡顿。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strike="noStrike" sz="18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系统运行流程图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2413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启动游戏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85925">
            <a:off x="8128079" y="2660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25" name="AutoShape 25"/>
          <p:cNvSpPr/>
          <p:nvPr/>
        </p:nvSpPr>
        <p:spPr>
          <a:xfrm>
            <a:off x="8636000" y="2413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加载资源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285450">
            <a:off x="9207500" y="3105256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27" name="AutoShape 27"/>
          <p:cNvSpPr/>
          <p:nvPr/>
        </p:nvSpPr>
        <p:spPr>
          <a:xfrm>
            <a:off x="8636000" y="3302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显示主菜单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10714074">
            <a:off x="8127921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29" name="AutoShape 29"/>
          <p:cNvSpPr/>
          <p:nvPr/>
        </p:nvSpPr>
        <p:spPr>
          <a:xfrm>
            <a:off x="6604000" y="3302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初始化3D场景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5285450">
            <a:off x="7175500" y="3994256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31" name="AutoShape 31"/>
          <p:cNvSpPr/>
          <p:nvPr/>
        </p:nvSpPr>
        <p:spPr>
          <a:xfrm>
            <a:off x="6604000" y="4191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加载当前关卡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85925">
            <a:off x="8128079" y="4438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33" name="AutoShape 33"/>
          <p:cNvSpPr/>
          <p:nvPr/>
        </p:nvSpPr>
        <p:spPr>
          <a:xfrm>
            <a:off x="8636000" y="4191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游戏主循环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5285450">
            <a:off x="9207500" y="4883256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35" name="AutoShape 35"/>
          <p:cNvSpPr/>
          <p:nvPr/>
        </p:nvSpPr>
        <p:spPr>
          <a:xfrm>
            <a:off x="8636000" y="5080000"/>
            <a:ext cx="1524000" cy="508000"/>
          </a:xfrm>
          <a:prstGeom prst="diamond">
            <a:avLst/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1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键盘输入?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10714074">
            <a:off x="8127921" y="5327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sp>
        <p:nvSpPr>
          <p:cNvPr id="37" name="AutoShape 37"/>
          <p:cNvSpPr/>
          <p:nvPr/>
        </p:nvSpPr>
        <p:spPr>
          <a:xfrm>
            <a:off x="6604000" y="5105400"/>
            <a:ext cx="1397000" cy="457200"/>
          </a:xfrm>
          <a:prstGeom prst="roundRect">
            <a:avLst>
              <a:gd name="adj" fmla="val 27777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0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更新积木状态</a:t>
            </a:r>
            <a:endParaRPr lang="en-US" sz="1100"/>
          </a:p>
        </p:txBody>
      </p:sp>
      <p:cxnSp>
        <p:nvCxnSpPr>
          <p:cNvPr name="Connector 38" id="38"/>
          <p:cNvCxnSpPr/>
          <p:nvPr/>
        </p:nvCxnSpPr>
        <p:spPr>
          <a:xfrm rot="-5685818">
            <a:off x="7289800" y="5022586"/>
            <a:ext cx="15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dash"/>
            <a:headEnd type="none" len="med" w="med"/>
            <a:tailEnd type="arrow" len="sm" w="sm"/>
          </a:ln>
        </p:spPr>
      </p:cxnSp>
      <p:sp>
        <p:nvSpPr>
          <p:cNvPr id="39" name="AutoShape 39"/>
          <p:cNvSpPr/>
          <p:nvPr/>
        </p:nvSpPr>
        <p:spPr>
          <a:xfrm>
            <a:off x="6604000" y="5715000"/>
            <a:ext cx="1397000" cy="457200"/>
          </a:xfrm>
          <a:prstGeom prst="diamond">
            <a:avLst/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0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判定通关?</a:t>
            </a:r>
            <a:endParaRPr lang="en-US" sz="1100"/>
          </a:p>
        </p:txBody>
      </p:sp>
      <p:cxnSp>
        <p:nvCxnSpPr>
          <p:cNvPr name="Connector 40" id="40"/>
          <p:cNvCxnSpPr/>
          <p:nvPr/>
        </p:nvCxnSpPr>
        <p:spPr>
          <a:xfrm rot="5114181">
            <a:off x="7289800" y="5632714"/>
            <a:ext cx="15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cxnSp>
        <p:nvCxnSpPr>
          <p:cNvPr name="Connector 41" id="41"/>
          <p:cNvCxnSpPr/>
          <p:nvPr/>
        </p:nvCxnSpPr>
        <p:spPr>
          <a:xfrm rot="-5425277">
            <a:off x="6502400" y="5302227"/>
            <a:ext cx="172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dash"/>
            <a:headEnd type="none" len="med" w="med"/>
            <a:tailEnd type="arrow" len="sm" w="sm"/>
          </a:ln>
        </p:spPr>
      </p:cxnSp>
      <p:sp>
        <p:nvSpPr>
          <p:cNvPr id="42" name="AutoShape 42"/>
          <p:cNvSpPr/>
          <p:nvPr/>
        </p:nvSpPr>
        <p:spPr>
          <a:xfrm>
            <a:off x="8636000" y="5715000"/>
            <a:ext cx="1397000" cy="381000"/>
          </a:xfrm>
          <a:prstGeom prst="roundRect">
            <a:avLst>
              <a:gd name="adj" fmla="val 33333"/>
            </a:avLst>
          </a:prstGeom>
          <a:solidFill>
            <a:srgbClr val="4A90E2">
              <a:alpha val="20000"/>
            </a:srgbClr>
          </a:solidFill>
          <a:ln w="12700" cap="flat" cmpd="sng">
            <a:solidFill>
              <a:srgbClr val="4A90E2">
                <a:alpha val="80000"/>
              </a:srgbClr>
            </a:solidFill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10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显示通关提示</a:t>
            </a:r>
            <a:endParaRPr lang="en-US" sz="1100"/>
          </a:p>
        </p:txBody>
      </p:sp>
      <p:cxnSp>
        <p:nvCxnSpPr>
          <p:cNvPr name="Connector 43" id="43"/>
          <p:cNvCxnSpPr/>
          <p:nvPr/>
        </p:nvCxnSpPr>
        <p:spPr>
          <a:xfrm rot="5057364">
            <a:off x="9334500" y="5645467"/>
            <a:ext cx="12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headEnd type="none" len="med" w="med"/>
            <a:tailEnd type="arrow" len="sm" w="sm"/>
          </a:ln>
        </p:spPr>
      </p:cxnSp>
      <p:cxnSp>
        <p:nvCxnSpPr>
          <p:cNvPr name="Connector 44" id="44"/>
          <p:cNvCxnSpPr/>
          <p:nvPr/>
        </p:nvCxnSpPr>
        <p:spPr>
          <a:xfrm rot="-5422917">
            <a:off x="8445500" y="5137129"/>
            <a:ext cx="190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dash"/>
            <a:headEnd type="none" len="med" w="med"/>
            <a:tailEnd type="arrow" len="sm" w="sm"/>
          </a:ln>
        </p:spPr>
      </p:cxn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3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人员分工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20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01 核心开发与逻辑构建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6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负责人：</a:t>
            </a:r>
            <a:r>
              <a:rPr lang="en-US" b="0" i="0" strike="noStrike" sz="16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徐思佳</a:t>
            </a:r>
            <a:r>
              <a:rPr lang="en-US" b="0" i="0" strike="noStrike" sz="16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| 后端主程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>
            <a:off x="1016009" y="2978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headEnd type="none" len="med" w="med"/>
            <a:tailEnd type="none" len="med" w="med"/>
          </a:ln>
        </p:spPr>
      </p:cxnSp>
      <p:pic>
        <p:nvPicPr>
          <p:cNvPr id="9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1016000" y="32766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2385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负责游戏核心逻辑开发，完成底层交互机制与系统调试，确保游戏运行稳定。</a:t>
            </a:r>
            <a:endParaRPr lang="en-US" sz="1100"/>
          </a:p>
        </p:txBody>
      </p:sp>
      <p:pic>
        <p:nvPicPr>
          <p:cNvPr id="11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1016000" y="38481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8100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搭建3D游戏场景，实现积木物理交互与动态渲染效果，还原设计蓝图。</a:t>
            </a:r>
            <a:endParaRPr lang="en-US" sz="1100"/>
          </a:p>
        </p:txBody>
      </p:sp>
      <p:pic>
        <p:nvPicPr>
          <p:cNvPr id="13" name="Picture 1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1016000" y="44196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3815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编写智能通关判定算法，设计关卡逻辑规则，保障游戏关卡的逻辑闭环。</a:t>
            </a:r>
            <a:endParaRPr lang="en-US" sz="1100"/>
          </a:p>
        </p:txBody>
      </p:sp>
      <p:pic>
        <p:nvPicPr>
          <p:cNvPr id="15" name="Picture 15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1016000" y="49911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9530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负责项目打包编译与发布，排查并修复开发过程中的技术Bug与性能问题。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20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02 视觉设计与资源保障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47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6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负责人：</a:t>
            </a:r>
            <a:r>
              <a:rPr lang="en-US" b="0" i="0" strike="noStrike" sz="16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赵一诺</a:t>
            </a:r>
            <a:r>
              <a:rPr lang="en-US" b="0" i="0" strike="noStrike" sz="16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| 设计与资源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>
            <a:off x="6477009" y="2978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headEnd type="none" len="med" w="med"/>
            <a:tailEnd type="none" len="med" w="med"/>
          </a:ln>
        </p:spPr>
      </p:cxnSp>
      <p:pic>
        <p:nvPicPr>
          <p:cNvPr id="21" name="Picture 21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77000" y="32766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32385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制作关卡三视图素材，设计高精度场景贴图与道具资源，提升画面质感。</a:t>
            </a:r>
            <a:endParaRPr lang="en-US" sz="1100"/>
          </a:p>
        </p:txBody>
      </p:sp>
      <p:pic>
        <p:nvPicPr>
          <p:cNvPr id="23" name="Picture 23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77000" y="39751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39370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优化游戏UI界面布局与交互设计，提升用户操作体验与视觉美感。</a:t>
            </a:r>
            <a:endParaRPr lang="en-US" sz="1100"/>
          </a:p>
        </p:txBody>
      </p:sp>
      <p:pic>
        <p:nvPicPr>
          <p:cNvPr id="25" name="Picture 25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77000" y="46736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58000" y="46355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制作项目演示视频与高清截图，剪辑并呈现游戏核心玩法与亮点特色。</a:t>
            </a:r>
            <a:endParaRPr lang="en-US" sz="1100"/>
          </a:p>
        </p:txBody>
      </p:sp>
      <p:pic>
        <p:nvPicPr>
          <p:cNvPr id="27" name="Picture 27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477000" y="53721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858000" y="5334000"/>
            <a:ext cx="4381500" cy="4572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参与项目功能测试与验收，校验交互逻辑与关卡体验的完整性和流畅度。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32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项目成果与总结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651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13335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7940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沉浸式交互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365500"/>
            <a:ext cx="1397000" cy="1524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just">
              <a:lnSpc>
                <a:spcPct val="116665"/>
              </a:lnSpc>
              <a:defRPr/>
            </a:pPr>
            <a:r>
              <a:rPr lang="en-US" b="0" i="0" strike="noStrike" sz="13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打造多视角自由切换的3D游戏主界面，还原真实物理反馈，带来流畅的沉浸式操作体验。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603500" y="1778000"/>
            <a:ext cx="1651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3175000" y="209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730500" y="27940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创意搭建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30500" y="3365500"/>
            <a:ext cx="1397000" cy="1524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just">
              <a:lnSpc>
                <a:spcPct val="116665"/>
              </a:lnSpc>
              <a:defRPr/>
            </a:pPr>
            <a:r>
              <a:rPr lang="en-US" b="0" i="0" strike="noStrike" sz="13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支持积木自由组合与结构稳定性智能检测，实现多样化的关卡搭建与创意表达。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1778000"/>
            <a:ext cx="1651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5016500" y="2095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72000" y="27940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strike="noStrike" sz="16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智能判定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3365500"/>
            <a:ext cx="1397000" cy="1524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just">
              <a:lnSpc>
                <a:spcPct val="116665"/>
              </a:lnSpc>
              <a:defRPr/>
            </a:pPr>
            <a:r>
              <a:rPr lang="en-US" b="0" i="0" strike="noStrike" sz="1300" u="none">
                <a:solidFill>
                  <a:srgbClr val="D1D5DB"/>
                </a:solidFill>
                <a:cs typeface="Noto Sans SC"/>
                <a:sym typeface="Noto Sans SC"/>
                <a:ea typeface="Noto Sans SC"/>
                <a:latin typeface="Noto Sans SC"/>
              </a:rPr>
              <a:t>实时识别通关条件，提供即时反馈与成就奖励，增强游戏的挑战性与成就感。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77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3500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196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8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01 目标达成情况</a:t>
            </a:r>
            <a:endParaRPr lang="en-US" sz="1100"/>
          </a:p>
        </p:txBody>
      </p:sp>
      <p:pic>
        <p:nvPicPr>
          <p:cNvPr id="20" name="Picture 20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604000" y="2540000"/>
            <a:ext cx="203200" cy="203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83400" y="25146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功能完备：实现3D交互、关卡系统及通关判定，核心逻辑闭环。</a:t>
            </a:r>
            <a:endParaRPr lang="en-US" sz="1100"/>
          </a:p>
        </p:txBody>
      </p:sp>
      <p:pic>
        <p:nvPicPr>
          <p:cNvPr id="22" name="Picture 22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604000" y="29464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83400" y="2921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独立运行：成功打包为exe文件，脱离开发环境即可直接启动。</a:t>
            </a:r>
            <a:endParaRPr lang="en-US" sz="1100"/>
          </a:p>
        </p:txBody>
      </p:sp>
      <p:pic>
        <p:nvPicPr>
          <p:cNvPr id="24" name="Picture 24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604000" y="3352800"/>
            <a:ext cx="203200" cy="203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83400" y="33274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品质达标：符合课程考核标准，交互流畅，项目完成度达100%。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0005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50000" y="40005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604000" y="419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strike="noStrike" sz="1800" u="none">
                <a:solidFill>
                  <a:srgbClr val="4A90E2"/>
                </a:solidFill>
                <a:cs typeface="Noto Sans SC"/>
                <a:sym typeface="Noto Sans SC"/>
                <a:ea typeface="Noto Sans SC"/>
                <a:latin typeface="Noto Sans SC"/>
              </a:rPr>
              <a:t>02 未来迭代规划</a:t>
            </a:r>
            <a:endParaRPr lang="en-US" sz="1100"/>
          </a:p>
        </p:txBody>
      </p:sp>
      <p:pic>
        <p:nvPicPr>
          <p:cNvPr id="29" name="Picture 29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604000" y="4762500"/>
            <a:ext cx="203200" cy="203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883400" y="47371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内容扩充：新增多难度关卡与创意模组，丰富游戏可玩性与深度。</a:t>
            </a:r>
            <a:endParaRPr lang="en-US" sz="1100"/>
          </a:p>
        </p:txBody>
      </p:sp>
      <p:pic>
        <p:nvPicPr>
          <p:cNvPr id="31" name="Picture 31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604000" y="5168900"/>
            <a:ext cx="203200" cy="203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883400" y="5143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性能升级：优化渲染效率，支持更复杂的场景与高精度物理模拟。</a:t>
            </a:r>
            <a:endParaRPr lang="en-US" sz="1100"/>
          </a:p>
        </p:txBody>
      </p:sp>
      <p:pic>
        <p:nvPicPr>
          <p:cNvPr id="33" name="Picture 33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/>
            </a:extLst>
          </a:blip>
          <a:stretch>
            <a:fillRect/>
          </a:stretch>
        </p:blipFill>
        <p:spPr>
          <a:xfrm>
            <a:off x="6604000" y="5575300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883400" y="55499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strike="noStrike" sz="1400" u="none">
                <a:solidFill>
                  <a:srgbClr val="E5E7EB"/>
                </a:solidFill>
                <a:cs typeface="Noto Sans SC"/>
                <a:sym typeface="Noto Sans SC"/>
                <a:ea typeface="Noto Sans SC"/>
                <a:latin typeface="Noto Sans SC"/>
              </a:rPr>
              <a:t>社交拓展：探索多人在线协作与对战模式，打造互动新体验。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302000" cy="3302000"/>
          </a:xfrm>
          <a:prstGeom prst="ellipse">
            <a:avLst/>
          </a:prstGeom>
          <a:solidFill>
            <a:srgbClr val="4A90E2">
              <a:alpha val="12000"/>
            </a:srgbClr>
          </a:solidFill>
          <a:ln w="12700" cap="flat" cmpd="sng">
            <a:solidFill>
              <a:srgbClr val="2E75C9">
                <a:alpha val="12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4064000" cy="4064000"/>
          </a:xfrm>
          <a:prstGeom prst="ellipse">
            <a:avLst/>
          </a:prstGeom>
          <a:solidFill>
            <a:srgbClr val="4A90E2">
              <a:alpha val="9000"/>
            </a:srgbClr>
          </a:solidFill>
          <a:ln w="12700" cap="flat" cmpd="sng">
            <a:solidFill>
              <a:srgbClr val="2E75C9">
                <a:alpha val="9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795000" y="762000"/>
            <a:ext cx="1016000" cy="1016000"/>
          </a:xfrm>
          <a:prstGeom prst="ellipse">
            <a:avLst/>
          </a:prstGeom>
          <a:solidFill>
            <a:srgbClr val="4A90E2">
              <a:alpha val="5000"/>
            </a:srgbClr>
          </a:solidFill>
          <a:ln w="12700" cap="flat" cmpd="sng">
            <a:solidFill>
              <a:srgbClr val="2E75C9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762000" cy="762000"/>
          </a:xfrm>
          <a:prstGeom prst="ellipse">
            <a:avLst/>
          </a:prstGeom>
          <a:solidFill>
            <a:srgbClr val="4A90E2">
              <a:alpha val="5000"/>
            </a:srgbClr>
          </a:solidFill>
          <a:ln w="12700" cap="flat" cmpd="sng">
            <a:solidFill>
              <a:srgbClr val="2E75C9">
                <a:alpha val="5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2794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strike="noStrike" sz="4800" u="none">
                <a:solidFill>
                  <a:srgbClr val="FFFFFF"/>
                </a:solidFill>
                <a:cs typeface="Noto Sans SC"/>
                <a:sym typeface="Noto Sans SC"/>
                <a:ea typeface="Noto Sans SC"/>
                <a:latin typeface="Noto Sans SC"/>
              </a:rPr>
              <a:t>感谢聆听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0" y="4445000"/>
            <a:ext cx="1143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12700" cap="flat" cmpd="sng">
            <a:solidFill>
              <a:srgbClr val="2E75C9">
                <a:alpha val="100000"/>
              </a:srgbClr>
            </a:solidFill>
            <a:prstDash val="solid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495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anchor="ctr" rtlCol="false" anchorCtr="false" vert="horz" wrap="square" lIns="0" rIns="0" tIns="0" bIns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strike="noStrike" sz="2000" u="none">
                <a:solidFill>
                  <a:srgbClr val="FFFFFF">
                    <a:alpha val="65098"/>
                  </a:srgbClr>
                </a:solidFill>
                <a:cs typeface="Noto Sans SC"/>
                <a:sym typeface="Noto Sans SC"/>
                <a:ea typeface="Noto Sans SC"/>
                <a:latin typeface="Noto Sans SC"/>
              </a:rPr>
              <a:t>期待与您携手共进，共创未来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{"Label":"1","ContentProducer":"001191110102MACQD9K64010000","ProduceID":"7686133802825894878","ReservedCode1":"","ContentPropagator":"","PropagateID":"","ReservedCode2":""}</vt:lpwstr>
  </property>
</Properties>
</file>